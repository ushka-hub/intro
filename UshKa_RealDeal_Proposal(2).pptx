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4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2011680"/>
            <a:ext cx="3291840" cy="3291840"/>
          </a:xfrm>
          <a:prstGeom prst="ellipse">
            <a:avLst/>
          </a:prstGeom>
          <a:solidFill>
            <a:srgbClr val="377455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5394960"/>
            <a:ext cx="3291840" cy="3291840"/>
          </a:xfrm>
          <a:prstGeom prst="ellipse">
            <a:avLst/>
          </a:prstGeom>
          <a:solidFill>
            <a:srgbClr val="CEB552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EB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FOOD DAY  ×  FAIR TRADE MONTH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DEAL</a:t>
            </a:r>
            <a:endParaRPr lang="en-US" sz="6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i="1" dirty="0">
                <a:solidFill>
                  <a:srgbClr val="CEB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You, For the World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2743200" cy="0"/>
          </a:xfrm>
          <a:prstGeom prst="line">
            <a:avLst/>
          </a:prstGeom>
          <a:noFill/>
          <a:ln w="19050">
            <a:solidFill>
              <a:srgbClr val="CEB55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2062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7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UshKa event, hosted in partnership with UNA-USA Seattle Chapter and Fair Trade Winds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7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16, 2026  •  5:00 – 8:00 PM  •  Fair Trade Winds, Ballard, Seattle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PROPOSAL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EB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34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global observances. One local storefront.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5166360" cy="4114800"/>
        </p:xfrm>
        <a:graphic>
          <a:graphicData uri="http://schemas.openxmlformats.org/drawingml/2006/table">
            <a:tbl>
              <a:tblPr/>
              <a:tblGrid>
                <a:gridCol w="5166360"/>
              </a:tblGrid>
              <a:tr h="4114800">
                <a:tc>
                  <a:txBody>
                    <a:bodyPr/>
                    <a:lstStyle/>
                    <a:p>
                      <a:pPr indent="0" marL="0">
                        <a:spcAft>
                          <a:spcPts val="800"/>
                        </a:spcAft>
                        <a:buNone/>
                      </a:pPr>
                      <a:r>
                        <a:rPr lang="en-US" sz="1700" b="1" dirty="0">
                          <a:solidFill>
                            <a:srgbClr val="234A3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World Food Day 2026</a:t>
                      </a:r>
                      <a:endParaRPr lang="en-US" sz="1200" dirty="0"/>
                    </a:p>
                    <a:p>
                      <a:pPr indent="0" marL="0">
                        <a:spcAft>
                          <a:spcPts val="2400"/>
                        </a:spcAft>
                        <a:buNone/>
                      </a:pPr>
                      <a:r>
                        <a:rPr lang="en-US" sz="1250" i="1" dirty="0">
                          <a:solidFill>
                            <a:srgbClr val="CEB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“Innovate Today. Nourish Tomorrow.”</a:t>
                      </a:r>
                      <a:endParaRPr lang="en-US" sz="1200" dirty="0"/>
                    </a:p>
                    <a:p>
                      <a:pPr indent="0" marL="0">
                        <a:spcAft>
                          <a:spcPts val="2800"/>
                        </a:spcAft>
                        <a:buNone/>
                      </a:pPr>
                      <a:r>
                        <a:rPr lang="en-US" sz="135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year's theme highlights how innovation — paired with traditional knowledge and inclusive, community-level action — helps build food systems that nourish people today while protecting resources for tomorrow.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6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Marked every October 16, the anniversary of the founding of the UN Food and Agriculture Organization.</a:t>
                      </a:r>
                      <a:endParaRPr lang="en-US" sz="1200" dirty="0"/>
                    </a:p>
                  </a:txBody>
                  <a:tcPr marL="365760" marR="365760" marT="320040" marB="3200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874520"/>
          <a:ext cx="5166360" cy="4114800"/>
        </p:xfrm>
        <a:graphic>
          <a:graphicData uri="http://schemas.openxmlformats.org/drawingml/2006/table">
            <a:tbl>
              <a:tblPr/>
              <a:tblGrid>
                <a:gridCol w="5166360"/>
              </a:tblGrid>
              <a:tr h="4114800">
                <a:tc>
                  <a:txBody>
                    <a:bodyPr/>
                    <a:lstStyle/>
                    <a:p>
                      <a:pPr indent="0" marL="0">
                        <a:spcAft>
                          <a:spcPts val="800"/>
                        </a:spcAft>
                        <a:buNone/>
                      </a:pPr>
                      <a:r>
                        <a:rPr lang="en-US" sz="1700" b="1" dirty="0">
                          <a:solidFill>
                            <a:srgbClr val="234A3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Fair Trade Month</a:t>
                      </a:r>
                      <a:endParaRPr lang="en-US" sz="1200" dirty="0"/>
                    </a:p>
                    <a:p>
                      <a:pPr indent="0" marL="0">
                        <a:spcAft>
                          <a:spcPts val="2400"/>
                        </a:spcAft>
                        <a:buNone/>
                      </a:pPr>
                      <a:r>
                        <a:rPr lang="en-US" sz="1250" i="1" dirty="0">
                          <a:solidFill>
                            <a:srgbClr val="CEB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“The Real Deal”</a:t>
                      </a:r>
                      <a:endParaRPr lang="en-US" sz="1200" dirty="0"/>
                    </a:p>
                    <a:p>
                      <a:pPr indent="0" marL="0">
                        <a:spcAft>
                          <a:spcPts val="2800"/>
                        </a:spcAft>
                        <a:buNone/>
                      </a:pPr>
                      <a:r>
                        <a:rPr lang="en-US" sz="135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October, Fair Trade Month celebrates the artisans, farmers, and cooperatives behind ethically made goods — proof that everyday purchases can carry real, verifiable impact.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6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Seattle is a values-driven, conscious-consumer city — the ideal audience for this bridge.</a:t>
                      </a:r>
                      <a:endParaRPr lang="en-US" sz="1200" dirty="0"/>
                    </a:p>
                  </a:txBody>
                  <a:tcPr marL="365760" marR="365760" marT="320040" marB="3200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EE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UshKa × UNA-USA × Fair Trade Winds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EB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34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event is built to achieve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1920240"/>
        </p:xfrm>
        <a:graphic>
          <a:graphicData uri="http://schemas.openxmlformats.org/drawingml/2006/table">
            <a:tbl>
              <a:tblPr/>
              <a:tblGrid>
                <a:gridCol w="1463040"/>
                <a:gridCol w="9601200"/>
              </a:tblGrid>
              <a:tr h="1920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4600" b="1" dirty="0">
                          <a:solidFill>
                            <a:srgbClr val="CEB55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1200" dirty="0"/>
                    </a:p>
                  </a:txBody>
                  <a:tcPr marL="320040" marR="91440" marT="182880" marB="1828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1200"/>
                        </a:spcAft>
                        <a:buNone/>
                      </a:pPr>
                      <a:r>
                        <a:rPr lang="en-US" sz="1800" b="1" dirty="0">
                          <a:solidFill>
                            <a:srgbClr val="234A3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Raise funds for UNA-USA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 Fair Trade Winds' Give Back model — 10% of profit from all sales during the event window goes directly to UNA-USA. Shopping itself becomes the fundraiser; no separate donation ask required.</a:t>
                      </a:r>
                      <a:endParaRPr lang="en-US" sz="1200" dirty="0"/>
                    </a:p>
                  </a:txBody>
                  <a:tcPr marL="137160" marR="320040" marT="182880" marB="1828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11064240" cy="1920240"/>
        </p:xfrm>
        <a:graphic>
          <a:graphicData uri="http://schemas.openxmlformats.org/drawingml/2006/table">
            <a:tbl>
              <a:tblPr/>
              <a:tblGrid>
                <a:gridCol w="1463040"/>
                <a:gridCol w="9601200"/>
              </a:tblGrid>
              <a:tr h="1920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4600" b="1" dirty="0">
                          <a:solidFill>
                            <a:srgbClr val="CEB55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1200" dirty="0"/>
                    </a:p>
                  </a:txBody>
                  <a:tcPr marL="320040" marR="91440" marT="182880" marB="1828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1200"/>
                        </a:spcAft>
                        <a:buNone/>
                      </a:pPr>
                      <a:r>
                        <a:rPr lang="en-US" sz="1800" b="1" dirty="0">
                          <a:solidFill>
                            <a:srgbClr val="234A3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Grow Founding Membership for the new UNA-USA Seattle Chapter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 values-aligned shoppers into the chapter's first cohort of members — giving Seattle's progressive, globally minded community a concrete next step beyond a single purchase.</a:t>
                      </a:r>
                      <a:endParaRPr lang="en-US" sz="1200" dirty="0"/>
                    </a:p>
                  </a:txBody>
                  <a:tcPr marL="137160" marR="320040" marT="182880" marB="1828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EE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UshKa × UNA-USA × Fair Trade Winds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EB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34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Real Deal”: local proof, global mission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Real Deal” does double duty — it's Fair Trade Month's language for authentic, verifiable impact, and it's the promise we make to every shopper: the good you do here is real, and it connects to something larger.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3520440" cy="3108960"/>
        </p:xfrm>
        <a:graphic>
          <a:graphicData uri="http://schemas.openxmlformats.org/drawingml/2006/table">
            <a:tbl>
              <a:tblPr/>
              <a:tblGrid>
                <a:gridCol w="3520440"/>
              </a:tblGrid>
              <a:tr h="3108960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700" b="1" dirty="0">
                          <a:solidFill>
                            <a:srgbClr val="234A3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UshKa</a:t>
                      </a:r>
                      <a:endParaRPr lang="en-US" sz="1200" dirty="0"/>
                    </a:p>
                    <a:p>
                      <a:pPr indent="0" marL="0">
                        <a:spcAft>
                          <a:spcPts val="2000"/>
                        </a:spcAft>
                        <a:buNone/>
                      </a:pPr>
                      <a:r>
                        <a:rPr lang="en-US" sz="1100" b="1" spc="120" kern="0" dirty="0">
                          <a:solidFill>
                            <a:srgbClr val="CEB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CONVENER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Brings the concept, brand, and connective storytelling — SDG framing, field guide, and event coordination.</a:t>
                      </a:r>
                      <a:endParaRPr lang="en-US" sz="1200" dirty="0"/>
                    </a:p>
                  </a:txBody>
                  <a:tcPr marL="320040" marR="320040" marT="292608" marB="29260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2880360"/>
          <a:ext cx="3520440" cy="3108960"/>
        </p:xfrm>
        <a:graphic>
          <a:graphicData uri="http://schemas.openxmlformats.org/drawingml/2006/table">
            <a:tbl>
              <a:tblPr/>
              <a:tblGrid>
                <a:gridCol w="3520440"/>
              </a:tblGrid>
              <a:tr h="3108960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700" b="1" dirty="0">
                          <a:solidFill>
                            <a:srgbClr val="234A3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Fair Trade Winds</a:t>
                      </a:r>
                      <a:endParaRPr lang="en-US" sz="1200" dirty="0"/>
                    </a:p>
                    <a:p>
                      <a:pPr indent="0" marL="0">
                        <a:spcAft>
                          <a:spcPts val="2000"/>
                        </a:spcAft>
                        <a:buNone/>
                      </a:pPr>
                      <a:r>
                        <a:rPr lang="en-US" sz="1100" b="1" spc="120" kern="0" dirty="0">
                          <a:solidFill>
                            <a:srgbClr val="CEB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 &amp; RETAIL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Curated products, window display, and the Give Back mechanism that turns sales into a fundraiser.</a:t>
                      </a:r>
                      <a:endParaRPr lang="en-US" sz="1200" dirty="0"/>
                    </a:p>
                  </a:txBody>
                  <a:tcPr marL="320040" marR="320040" marT="292608" marB="29260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0" y="2880360"/>
          <a:ext cx="3520440" cy="3108960"/>
        </p:xfrm>
        <a:graphic>
          <a:graphicData uri="http://schemas.openxmlformats.org/drawingml/2006/table">
            <a:tbl>
              <a:tblPr/>
              <a:tblGrid>
                <a:gridCol w="3520440"/>
              </a:tblGrid>
              <a:tr h="3108960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700" b="1" dirty="0">
                          <a:solidFill>
                            <a:srgbClr val="234A3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UNA-USA</a:t>
                      </a:r>
                      <a:endParaRPr lang="en-US" sz="1200" dirty="0"/>
                    </a:p>
                    <a:p>
                      <a:pPr indent="0" marL="0">
                        <a:spcAft>
                          <a:spcPts val="2000"/>
                        </a:spcAft>
                        <a:buNone/>
                      </a:pPr>
                      <a:r>
                        <a:rPr lang="en-US" sz="1100" b="1" spc="120" kern="0" dirty="0">
                          <a:solidFill>
                            <a:srgbClr val="CEB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MISSION &amp; MEMBERSHIP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global institution shoppers are invited to join — founding membership for the new Seattle chapter.</a:t>
                      </a:r>
                      <a:endParaRPr lang="en-US" sz="1200" dirty="0"/>
                    </a:p>
                  </a:txBody>
                  <a:tcPr marL="320040" marR="320040" marT="292608" marB="29260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EE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UshKa × UNA-USA × Fair Trade Winds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EB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34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front window to the founding table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3429000" cy="3703320"/>
        </p:xfrm>
        <a:graphic>
          <a:graphicData uri="http://schemas.openxmlformats.org/drawingml/2006/table">
            <a:tbl>
              <a:tblPr/>
              <a:tblGrid>
                <a:gridCol w="3429000"/>
              </a:tblGrid>
              <a:tr h="3703320">
                <a:tc>
                  <a:txBody>
                    <a:bodyPr/>
                    <a:lstStyle/>
                    <a:p>
                      <a:pPr indent="0" marL="0">
                        <a:spcAft>
                          <a:spcPts val="1000"/>
                        </a:spcAft>
                        <a:buNone/>
                      </a:pPr>
                      <a:r>
                        <a:rPr lang="en-US" sz="2600" b="1" dirty="0">
                          <a:solidFill>
                            <a:srgbClr val="CEB55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200" dirty="0"/>
                    </a:p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100" b="1" spc="200" kern="0" dirty="0">
                          <a:solidFill>
                            <a:srgbClr val="CEB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</a:t>
                      </a:r>
                      <a:endParaRPr lang="en-US" sz="1200" dirty="0"/>
                    </a:p>
                    <a:p>
                      <a:pPr indent="0" marL="0">
                        <a:spcAft>
                          <a:spcPts val="14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234A3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Curated Shop Floor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 Trade Winds' top picks for October, each tagged to the UN Sustainable Development Goal its story connects to.</a:t>
                      </a:r>
                      <a:endParaRPr lang="en-US" sz="1200" dirty="0"/>
                    </a:p>
                  </a:txBody>
                  <a:tcPr marL="320040" marR="320040" marT="292608" marB="29260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783080"/>
          <a:ext cx="3429000" cy="3703320"/>
        </p:xfrm>
        <a:graphic>
          <a:graphicData uri="http://schemas.openxmlformats.org/drawingml/2006/table">
            <a:tbl>
              <a:tblPr/>
              <a:tblGrid>
                <a:gridCol w="3429000"/>
              </a:tblGrid>
              <a:tr h="3703320">
                <a:tc>
                  <a:txBody>
                    <a:bodyPr/>
                    <a:lstStyle/>
                    <a:p>
                      <a:pPr indent="0" marL="0">
                        <a:spcAft>
                          <a:spcPts val="1000"/>
                        </a:spcAft>
                        <a:buNone/>
                      </a:pPr>
                      <a:r>
                        <a:rPr lang="en-US" sz="2600" b="1" dirty="0">
                          <a:solidFill>
                            <a:srgbClr val="CEB55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200" dirty="0"/>
                    </a:p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100" b="1" spc="200" kern="0" dirty="0">
                          <a:solidFill>
                            <a:srgbClr val="CEB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</a:t>
                      </a:r>
                      <a:endParaRPr lang="en-US" sz="1200" dirty="0"/>
                    </a:p>
                    <a:p>
                      <a:pPr indent="0" marL="0">
                        <a:spcAft>
                          <a:spcPts val="14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234A3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Food &amp; Beverage Station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natural gathering pause — fair trade coffee, tea, and snacks — positioned as attendees move deeper into the store.</a:t>
                      </a:r>
                      <a:endParaRPr lang="en-US" sz="1200" dirty="0"/>
                    </a:p>
                  </a:txBody>
                  <a:tcPr marL="320040" marR="320040" marT="292608" marB="29260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83880" y="1783080"/>
          <a:ext cx="3429000" cy="3703320"/>
        </p:xfrm>
        <a:graphic>
          <a:graphicData uri="http://schemas.openxmlformats.org/drawingml/2006/table">
            <a:tbl>
              <a:tblPr/>
              <a:tblGrid>
                <a:gridCol w="3429000"/>
              </a:tblGrid>
              <a:tr h="3703320">
                <a:tc>
                  <a:txBody>
                    <a:bodyPr/>
                    <a:lstStyle/>
                    <a:p>
                      <a:pPr indent="0" marL="0">
                        <a:spcAft>
                          <a:spcPts val="1000"/>
                        </a:spcAft>
                        <a:buNone/>
                      </a:pPr>
                      <a:r>
                        <a:rPr lang="en-US" sz="2600" b="1" dirty="0">
                          <a:solidFill>
                            <a:srgbClr val="CEB55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200" dirty="0"/>
                    </a:p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100" b="1" spc="200" kern="0" dirty="0">
                          <a:solidFill>
                            <a:srgbClr val="CEB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</a:t>
                      </a:r>
                      <a:endParaRPr lang="en-US" sz="1200" dirty="0"/>
                    </a:p>
                    <a:p>
                      <a:pPr indent="0" marL="0">
                        <a:spcAft>
                          <a:spcPts val="14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234A3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Membership &amp; UNA-USA Table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Founding Membership info for the new Seattle Chapter, with the Founding Member gift bag on display.</a:t>
                      </a:r>
                      <a:endParaRPr lang="en-US" sz="1200" dirty="0"/>
                    </a:p>
                  </a:txBody>
                  <a:tcPr marL="320040" marR="320040" marT="292608" marB="29260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685800" y="56235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program — the physical path does the storytelling as shoppers move through it. Fair Trade Winds' buying team will finalize top sellers and October new arrivals; each will be highlighted through the shopping experience with a table tent displaying its associated SDG.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UshKa × UNA-USA × Fair Trade Winds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4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EB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FUND IS RAISED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Shopping is the fundraiser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863840" y="21031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CEB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34290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7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profit from all sales,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7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16, to UNA-USA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6858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lnSpc>
                <a:spcPct val="125000"/>
              </a:lnSpc>
              <a:spcAft>
                <a:spcPts val="2600"/>
              </a:spcAft>
              <a:buSzPct val="100000"/>
              <a:buChar char="●"/>
            </a:pPr>
            <a:r>
              <a:rPr lang="en-US" sz="1350" dirty="0">
                <a:solidFill>
                  <a:srgbClr val="F7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Trade Winds' existing Give Back model, extended to UNA-USA as the beneficiary for this event.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2600"/>
              </a:spcAft>
              <a:buSzPct val="100000"/>
              <a:buChar char="●"/>
            </a:pPr>
            <a:r>
              <a:rPr lang="en-US" sz="1350" dirty="0">
                <a:solidFill>
                  <a:srgbClr val="F7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pledge cards, no separate ask — every purchase automatically contributes.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2600"/>
              </a:spcAft>
              <a:buSzPct val="100000"/>
              <a:buChar char="●"/>
            </a:pPr>
            <a:r>
              <a:rPr lang="en-US" sz="1350" dirty="0">
                <a:solidFill>
                  <a:srgbClr val="F7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house format, 5–8 PM, no formal remarks — the mechanism works passively throughout the full window.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2600"/>
              </a:spcAft>
              <a:buSzPct val="100000"/>
              <a:buChar char="●"/>
            </a:pPr>
            <a:r>
              <a:rPr lang="en-US" sz="1350" dirty="0">
                <a:solidFill>
                  <a:srgbClr val="F7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signage at entry and register communicates the impact in real time.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UshKa × UNA-USA × Fair Trade Winds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EB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UNA-USA SEATTLE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34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Founding Membership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0" b="1" dirty="0">
                <a:solidFill>
                  <a:srgbClr val="234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</a:t>
            </a:r>
            <a:endParaRPr lang="en-US" sz="5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Member — UNA-USA Seattle Chapter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832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EB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INCLUDED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94760"/>
            <a:ext cx="5303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13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UNA-USA branded item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13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UshKa branded item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13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complimentary online yoga sessions with Megan Nakra Yoga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33832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EB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CHAPTER EVENTS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379476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13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Women's Day — March 8, 2027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13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Yoga Day — June 21, 2027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UshKa × UNA-USA × Fair Trade Winds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EB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34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details &amp; staffing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212080" cy="4526280"/>
        </p:xfrm>
        <a:graphic>
          <a:graphicData uri="http://schemas.openxmlformats.org/drawingml/2006/table">
            <a:tbl>
              <a:tblPr/>
              <a:tblGrid>
                <a:gridCol w="5212080"/>
              </a:tblGrid>
              <a:tr h="4526280">
                <a:tc>
                  <a:txBody>
                    <a:bodyPr/>
                    <a:lstStyle/>
                    <a:p>
                      <a:pPr indent="0" marL="0">
                        <a:spcAft>
                          <a:spcPts val="1600"/>
                        </a:spcAft>
                        <a:buNone/>
                      </a:pPr>
                      <a:r>
                        <a:rPr lang="en-US" sz="1200" b="1" spc="150" kern="0" dirty="0">
                          <a:solidFill>
                            <a:srgbClr val="CEB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200" dirty="0"/>
                    </a:p>
                    <a:p>
                      <a:pPr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1050" b="1" spc="100" kern="0" dirty="0">
                          <a:solidFill>
                            <a:srgbClr val="234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200" dirty="0"/>
                    </a:p>
                    <a:p>
                      <a:pPr indent="0" marL="0">
                        <a:spcAft>
                          <a:spcPts val="14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October 16, 2026 (World Food Day)</a:t>
                      </a:r>
                      <a:endParaRPr lang="en-US" sz="1200" dirty="0"/>
                    </a:p>
                    <a:p>
                      <a:pPr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1050" b="1" spc="100" kern="0" dirty="0">
                          <a:solidFill>
                            <a:srgbClr val="234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200" dirty="0"/>
                    </a:p>
                    <a:p>
                      <a:pPr indent="0" marL="0">
                        <a:spcAft>
                          <a:spcPts val="14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5:00 – 8:00 PM — open house, no formal remarks</a:t>
                      </a:r>
                      <a:endParaRPr lang="en-US" sz="1200" dirty="0"/>
                    </a:p>
                    <a:p>
                      <a:pPr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1050" b="1" spc="100" kern="0" dirty="0">
                          <a:solidFill>
                            <a:srgbClr val="234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</a:t>
                      </a:r>
                      <a:endParaRPr lang="en-US" sz="1200" dirty="0"/>
                    </a:p>
                    <a:p>
                      <a:pPr indent="0" marL="0">
                        <a:spcAft>
                          <a:spcPts val="14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 Trade Winds, Ballard, Seattle</a:t>
                      </a:r>
                      <a:endParaRPr lang="en-US" sz="1200" dirty="0"/>
                    </a:p>
                    <a:p>
                      <a:pPr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1050" b="1" spc="100" kern="0" dirty="0">
                          <a:solidFill>
                            <a:srgbClr val="234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FUNDRAISING WINDOW</a:t>
                      </a:r>
                      <a:endParaRPr lang="en-US" sz="1200" dirty="0"/>
                    </a:p>
                    <a:p>
                      <a:pPr indent="0" marL="0">
                        <a:spcAft>
                          <a:spcPts val="14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within FTW's Give Back period (10% of profit, all sales)</a:t>
                      </a:r>
                      <a:endParaRPr lang="en-US" sz="1200" dirty="0"/>
                    </a:p>
                    <a:p>
                      <a:pPr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1050" b="1" spc="100" kern="0" dirty="0">
                          <a:solidFill>
                            <a:srgbClr val="234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</a:t>
                      </a:r>
                      <a:endParaRPr lang="en-US" sz="1200" dirty="0"/>
                    </a:p>
                    <a:p>
                      <a:pPr indent="0" marL="0">
                        <a:spcAft>
                          <a:spcPts val="14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Self-guided: front (shop + SDG tags) → middle (food/bev) → back (membership)</a:t>
                      </a:r>
                      <a:endParaRPr lang="en-US" sz="1200" dirty="0"/>
                    </a:p>
                  </a:txBody>
                  <a:tcPr marL="320040" marR="320040" marT="292608" marB="29260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737360"/>
          <a:ext cx="5577840" cy="4526280"/>
        </p:xfrm>
        <a:graphic>
          <a:graphicData uri="http://schemas.openxmlformats.org/drawingml/2006/table">
            <a:tbl>
              <a:tblPr/>
              <a:tblGrid>
                <a:gridCol w="5577840"/>
              </a:tblGrid>
              <a:tr h="4526280">
                <a:tc>
                  <a:txBody>
                    <a:bodyPr/>
                    <a:lstStyle/>
                    <a:p>
                      <a:pPr indent="0" marL="0">
                        <a:spcAft>
                          <a:spcPts val="1600"/>
                        </a:spcAft>
                        <a:buNone/>
                      </a:pPr>
                      <a:r>
                        <a:rPr lang="en-US" sz="1200" b="1" spc="150" kern="0" dirty="0">
                          <a:solidFill>
                            <a:srgbClr val="CEB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STAFFING</a:t>
                      </a:r>
                      <a:endParaRPr lang="en-US" sz="1200" dirty="0"/>
                    </a:p>
                    <a:p>
                      <a:pPr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 Trade Winds staff</a:t>
                      </a:r>
                      <a:endParaRPr lang="en-US" sz="1200" dirty="0"/>
                    </a:p>
                    <a:p>
                      <a:pPr indent="0" marL="0">
                        <a:spcAft>
                          <a:spcPts val="16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F7F5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Register, floor coverage, product/impact stories</a:t>
                      </a:r>
                      <a:endParaRPr lang="en-US" sz="1200" dirty="0"/>
                    </a:p>
                    <a:p>
                      <a:pPr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UshKa (Megan)</a:t>
                      </a:r>
                      <a:endParaRPr lang="en-US" sz="1200" dirty="0"/>
                    </a:p>
                    <a:p>
                      <a:pPr indent="0" marL="0">
                        <a:spcAft>
                          <a:spcPts val="16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F7F5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 presence, roaming, sponsor &amp; press touchpoints</a:t>
                      </a:r>
                      <a:endParaRPr lang="en-US" sz="1200" dirty="0"/>
                    </a:p>
                    <a:p>
                      <a:pPr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UNA-USA UW</a:t>
                      </a:r>
                      <a:endParaRPr lang="en-US" sz="1200" dirty="0"/>
                    </a:p>
                    <a:p>
                      <a:pPr indent="0" marL="0">
                        <a:spcAft>
                          <a:spcPts val="16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F7F5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Supporting the Membership table and the Food &amp; Beverage table</a:t>
                      </a:r>
                      <a:endParaRPr lang="en-US" sz="1200" dirty="0"/>
                    </a:p>
                  </a:txBody>
                  <a:tcPr marL="320040" marR="320040" marT="292608" marB="29260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4A36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UshKa × UNA-USA × Fair Trade Winds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EB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&amp; ASKS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34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partner brings — and what's still needed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2606040" cy="4114800"/>
        </p:xfrm>
        <a:graphic>
          <a:graphicData uri="http://schemas.openxmlformats.org/drawingml/2006/table">
            <a:tbl>
              <a:tblPr/>
              <a:tblGrid>
                <a:gridCol w="2606040"/>
              </a:tblGrid>
              <a:tr h="4114800">
                <a:tc>
                  <a:txBody>
                    <a:bodyPr/>
                    <a:lstStyle/>
                    <a:p>
                      <a:pPr indent="0" marL="0">
                        <a:spcAft>
                          <a:spcPts val="1800"/>
                        </a:spcAft>
                        <a:buNone/>
                      </a:pPr>
                      <a:r>
                        <a:rPr lang="en-US" sz="1500" b="1" dirty="0">
                          <a:solidFill>
                            <a:srgbClr val="234A3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Fair Trade Winds</a:t>
                      </a:r>
                      <a:endParaRPr lang="en-US" sz="1200" dirty="0"/>
                    </a:p>
                    <a:p>
                      <a:pPr marL="177800" indent="-177800">
                        <a:spcAft>
                          <a:spcPts val="1200"/>
                        </a:spcAft>
                        <a:buSzPct val="100000"/>
                        <a:buChar char="●"/>
                      </a:pPr>
                      <a:r>
                        <a:rPr lang="en-US" sz="115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 + window display</a:t>
                      </a:r>
                      <a:endParaRPr lang="en-US" sz="1200" dirty="0"/>
                    </a:p>
                    <a:p>
                      <a:pPr marL="177800" indent="-177800">
                        <a:spcAft>
                          <a:spcPts val="1200"/>
                        </a:spcAft>
                        <a:buSzPct val="100000"/>
                        <a:buChar char="●"/>
                      </a:pPr>
                      <a:r>
                        <a:rPr lang="en-US" sz="115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curation for October</a:t>
                      </a:r>
                      <a:endParaRPr lang="en-US" sz="1200" dirty="0"/>
                    </a:p>
                    <a:p>
                      <a:pPr marL="177800" indent="-177800">
                        <a:spcAft>
                          <a:spcPts val="1200"/>
                        </a:spcAft>
                        <a:buSzPct val="100000"/>
                        <a:buChar char="●"/>
                      </a:pPr>
                      <a:r>
                        <a:rPr lang="en-US" sz="115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 Give Back to UNA-USA</a:t>
                      </a:r>
                      <a:endParaRPr lang="en-US" sz="1200" dirty="0"/>
                    </a:p>
                  </a:txBody>
                  <a:tcPr marL="219456" marR="219456" marT="256032" marB="2560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83280" y="1965960"/>
          <a:ext cx="2606040" cy="4114800"/>
        </p:xfrm>
        <a:graphic>
          <a:graphicData uri="http://schemas.openxmlformats.org/drawingml/2006/table">
            <a:tbl>
              <a:tblPr/>
              <a:tblGrid>
                <a:gridCol w="2606040"/>
              </a:tblGrid>
              <a:tr h="4114800">
                <a:tc>
                  <a:txBody>
                    <a:bodyPr/>
                    <a:lstStyle/>
                    <a:p>
                      <a:pPr indent="0" marL="0">
                        <a:spcAft>
                          <a:spcPts val="1800"/>
                        </a:spcAft>
                        <a:buNone/>
                      </a:pPr>
                      <a:r>
                        <a:rPr lang="en-US" sz="1500" b="1" dirty="0">
                          <a:solidFill>
                            <a:srgbClr val="234A3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UNA-USA</a:t>
                      </a:r>
                      <a:endParaRPr lang="en-US" sz="1200" dirty="0"/>
                    </a:p>
                    <a:p>
                      <a:pPr marL="177800" indent="-177800">
                        <a:spcAft>
                          <a:spcPts val="1200"/>
                        </a:spcAft>
                        <a:buSzPct val="100000"/>
                        <a:buChar char="●"/>
                      </a:pPr>
                      <a:r>
                        <a:rPr lang="en-US" sz="115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Membership materials</a:t>
                      </a:r>
                      <a:endParaRPr lang="en-US" sz="1200" dirty="0"/>
                    </a:p>
                    <a:p>
                      <a:pPr marL="177800" indent="-177800">
                        <a:spcAft>
                          <a:spcPts val="1200"/>
                        </a:spcAft>
                        <a:buSzPct val="100000"/>
                        <a:buChar char="●"/>
                      </a:pPr>
                      <a:r>
                        <a:rPr lang="en-US" sz="115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Founding Member framework</a:t>
                      </a:r>
                      <a:endParaRPr lang="en-US" sz="1200" dirty="0"/>
                    </a:p>
                    <a:p>
                      <a:pPr marL="177800" indent="-177800">
                        <a:spcAft>
                          <a:spcPts val="1200"/>
                        </a:spcAft>
                        <a:buSzPct val="100000"/>
                        <a:buChar char="●"/>
                      </a:pPr>
                      <a:r>
                        <a:rPr lang="en-US" sz="115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Seattle Chapter representation</a:t>
                      </a:r>
                      <a:endParaRPr lang="en-US" sz="1200" dirty="0"/>
                    </a:p>
                    <a:p>
                      <a:pPr marL="177800" indent="-177800">
                        <a:spcAft>
                          <a:spcPts val="1200"/>
                        </a:spcAft>
                        <a:buSzPct val="100000"/>
                        <a:buChar char="●"/>
                      </a:pPr>
                      <a:r>
                        <a:rPr lang="en-US" sz="115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UNA-USA UW representation</a:t>
                      </a:r>
                      <a:endParaRPr lang="en-US" sz="1200" dirty="0"/>
                    </a:p>
                  </a:txBody>
                  <a:tcPr marL="219456" marR="219456" marT="256032" marB="2560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965960"/>
          <a:ext cx="2606040" cy="4114800"/>
        </p:xfrm>
        <a:graphic>
          <a:graphicData uri="http://schemas.openxmlformats.org/drawingml/2006/table">
            <a:tbl>
              <a:tblPr/>
              <a:tblGrid>
                <a:gridCol w="2606040"/>
              </a:tblGrid>
              <a:tr h="4114800">
                <a:tc>
                  <a:txBody>
                    <a:bodyPr/>
                    <a:lstStyle/>
                    <a:p>
                      <a:pPr indent="0" marL="0">
                        <a:spcAft>
                          <a:spcPts val="1800"/>
                        </a:spcAft>
                        <a:buNone/>
                      </a:pPr>
                      <a:r>
                        <a:rPr lang="en-US" sz="1500" b="1" dirty="0">
                          <a:solidFill>
                            <a:srgbClr val="234A3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UshKa</a:t>
                      </a:r>
                      <a:endParaRPr lang="en-US" sz="1200" dirty="0"/>
                    </a:p>
                    <a:p>
                      <a:pPr marL="177800" indent="-177800">
                        <a:spcAft>
                          <a:spcPts val="1200"/>
                        </a:spcAft>
                        <a:buSzPct val="100000"/>
                        <a:buChar char="●"/>
                      </a:pPr>
                      <a:r>
                        <a:rPr lang="en-US" sz="115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Concept, brand &amp; field guide</a:t>
                      </a:r>
                      <a:endParaRPr lang="en-US" sz="1200" dirty="0"/>
                    </a:p>
                    <a:p>
                      <a:pPr marL="177800" indent="-177800">
                        <a:spcAft>
                          <a:spcPts val="1200"/>
                        </a:spcAft>
                        <a:buSzPct val="100000"/>
                        <a:buChar char="●"/>
                      </a:pPr>
                      <a:r>
                        <a:rPr lang="en-US" sz="115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SDG-product pairings</a:t>
                      </a:r>
                      <a:endParaRPr lang="en-US" sz="1200" dirty="0"/>
                    </a:p>
                    <a:p>
                      <a:pPr marL="177800" indent="-177800">
                        <a:spcAft>
                          <a:spcPts val="1200"/>
                        </a:spcAft>
                        <a:buSzPct val="100000"/>
                        <a:buChar char="●"/>
                      </a:pPr>
                      <a:r>
                        <a:rPr lang="en-US" sz="115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coordination</a:t>
                      </a:r>
                      <a:endParaRPr lang="en-US" sz="1200" dirty="0"/>
                    </a:p>
                  </a:txBody>
                  <a:tcPr marL="219456" marR="219456" marT="256032" marB="2560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52560" y="1965960"/>
          <a:ext cx="2606040" cy="4114800"/>
        </p:xfrm>
        <a:graphic>
          <a:graphicData uri="http://schemas.openxmlformats.org/drawingml/2006/table">
            <a:tbl>
              <a:tblPr/>
              <a:tblGrid>
                <a:gridCol w="2606040"/>
              </a:tblGrid>
              <a:tr h="4114800">
                <a:tc>
                  <a:txBody>
                    <a:bodyPr/>
                    <a:lstStyle/>
                    <a:p>
                      <a:pPr indent="0" marL="0">
                        <a:spcAft>
                          <a:spcPts val="1800"/>
                        </a:spcAft>
                        <a:buNone/>
                      </a:pPr>
                      <a:r>
                        <a:rPr lang="en-US" sz="1500" b="1" dirty="0">
                          <a:solidFill>
                            <a:srgbClr val="234A3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Open Ask</a:t>
                      </a:r>
                      <a:endParaRPr lang="en-US" sz="1200" dirty="0"/>
                    </a:p>
                    <a:p>
                      <a:pPr marL="177800" indent="-177800">
                        <a:spcAft>
                          <a:spcPts val="1200"/>
                        </a:spcAft>
                        <a:buSzPct val="100000"/>
                        <a:buChar char="●"/>
                      </a:pPr>
                      <a:r>
                        <a:rPr lang="en-US" sz="115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 brands for gift-bag product</a:t>
                      </a:r>
                      <a:endParaRPr lang="en-US" sz="1200" dirty="0"/>
                    </a:p>
                    <a:p>
                      <a:pPr marL="177800" indent="-177800">
                        <a:spcAft>
                          <a:spcPts val="1200"/>
                        </a:spcAft>
                        <a:buSzPct val="100000"/>
                        <a:buChar char="●"/>
                      </a:pPr>
                      <a:r>
                        <a:rPr lang="en-US" sz="115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In-kind contributions</a:t>
                      </a:r>
                      <a:endParaRPr lang="en-US" sz="1200" dirty="0"/>
                    </a:p>
                    <a:p>
                      <a:pPr marL="177800" indent="-177800">
                        <a:spcAft>
                          <a:spcPts val="1200"/>
                        </a:spcAft>
                        <a:buSzPct val="100000"/>
                        <a:buChar char="●"/>
                      </a:pPr>
                      <a:r>
                        <a:rPr lang="en-US" sz="115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Cross-promotion on social</a:t>
                      </a:r>
                      <a:endParaRPr lang="en-US" sz="1200" dirty="0"/>
                    </a:p>
                    <a:p>
                      <a:pPr marL="177800" indent="-177800">
                        <a:spcAft>
                          <a:spcPts val="1200"/>
                        </a:spcAft>
                        <a:buSzPct val="100000"/>
                        <a:buChar char="●"/>
                      </a:pPr>
                      <a:r>
                        <a:rPr lang="en-US" sz="115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Securing food and beverage donors</a:t>
                      </a:r>
                      <a:endParaRPr lang="en-US" sz="1200" dirty="0"/>
                    </a:p>
                  </a:txBody>
                  <a:tcPr marL="219456" marR="219456" marT="256032" marB="2560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EB552"/>
                    </a:solidFill>
                  </a:tcPr>
                </a:tc>
              </a:tr>
            </a:tbl>
          </a:graphicData>
        </a:graphic>
      </p:graphicFrame>
      <p:sp>
        <p:nvSpPr>
          <p:cNvPr id="8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UshKa × UNA-USA × Fair Trade Winds</a:t>
            </a:r>
            <a:endParaRPr lang="en-US" sz="900" dirty="0"/>
          </a:p>
        </p:txBody>
      </p:sp>
      <p:sp>
        <p:nvSpPr>
          <p:cNvPr id="9" name="Text 3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34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2103120"/>
            <a:ext cx="3474720" cy="3474720"/>
          </a:xfrm>
          <a:prstGeom prst="ellipse">
            <a:avLst/>
          </a:prstGeom>
          <a:solidFill>
            <a:srgbClr val="377455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CEB552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03120"/>
            <a:ext cx="10332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action.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membership.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6118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i="1" dirty="0">
                <a:solidFill>
                  <a:srgbClr val="CEB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That's the Real Deal.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4434840"/>
            <a:ext cx="2743200" cy="0"/>
          </a:xfrm>
          <a:prstGeom prst="line">
            <a:avLst/>
          </a:prstGeom>
          <a:noFill/>
          <a:ln w="19050">
            <a:solidFill>
              <a:srgbClr val="CEB5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466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7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Megan Nakra  •  UshKa  •  UNA-USA Seattle Chapter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2026-09-11T02:48:45Z</dcterms:created>
  <dcterms:modified xsi:type="dcterms:W3CDTF">2026-09-11T02:48:45Z</dcterms:modified>
</cp:coreProperties>
</file>